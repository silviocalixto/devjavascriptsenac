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9" r:id="rId7"/>
    <p:sldId id="260" r:id="rId8"/>
    <p:sldId id="261" r:id="rId9"/>
    <p:sldId id="264" r:id="rId10"/>
    <p:sldId id="263" r:id="rId11"/>
    <p:sldId id="267" r:id="rId12"/>
    <p:sldId id="273" r:id="rId13"/>
    <p:sldId id="289" r:id="rId14"/>
    <p:sldId id="290" r:id="rId15"/>
    <p:sldId id="265" r:id="rId16"/>
    <p:sldId id="268" r:id="rId17"/>
    <p:sldId id="274" r:id="rId18"/>
    <p:sldId id="269" r:id="rId19"/>
    <p:sldId id="270" r:id="rId20"/>
    <p:sldId id="276" r:id="rId21"/>
    <p:sldId id="275" r:id="rId22"/>
    <p:sldId id="277" r:id="rId23"/>
    <p:sldId id="278" r:id="rId24"/>
    <p:sldId id="280" r:id="rId25"/>
    <p:sldId id="282" r:id="rId26"/>
    <p:sldId id="283" r:id="rId27"/>
    <p:sldId id="284" r:id="rId28"/>
    <p:sldId id="285" r:id="rId29"/>
    <p:sldId id="287" r:id="rId30"/>
    <p:sldId id="288" r:id="rId31"/>
    <p:sldId id="292" r:id="rId32"/>
    <p:sldId id="291" r:id="rId33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900"/>
    <a:srgbClr val="FF9900"/>
    <a:srgbClr val="004B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55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1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6375" y="385763"/>
            <a:ext cx="5688013" cy="3332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77478" y="3718198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403648" y="5301208"/>
            <a:ext cx="6400800" cy="84164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9CDAE1-3A9A-4EC5-9FAD-0459E889093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1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72450" y="6215063"/>
            <a:ext cx="900113" cy="52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9BDEFE-77D1-4ECD-962A-A9826703700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1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72450" y="6215063"/>
            <a:ext cx="900113" cy="52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18D235-FAC0-4331-940E-C9D38589A3C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1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72450" y="6215063"/>
            <a:ext cx="900113" cy="52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47E289-2FDC-4034-AEA9-5AA41B2552C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1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72450" y="6215063"/>
            <a:ext cx="900113" cy="52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44844D-1246-49E8-839E-D48B0221B2D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1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72450" y="6215063"/>
            <a:ext cx="900113" cy="52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046F57-095B-4235-9AF7-473CE133313E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6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72450" y="6215063"/>
            <a:ext cx="900113" cy="52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34B021-DAC8-4D3D-936F-65859E054DB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1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72450" y="6215063"/>
            <a:ext cx="900113" cy="52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4F40F-EA91-49DE-A121-4618E492D140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1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72450" y="6215063"/>
            <a:ext cx="900113" cy="52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9A2810-7AE0-43DD-B64A-9844782C6E4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C67DA1-E92A-4C1C-9439-6EBC1EA327E3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5CBD99-EF03-47B1-AEC1-B7096B5BEAC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1A1E863-77FA-4436-8BA7-5F12FA1C967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28" r:id="rId10"/>
    <p:sldLayoutId id="214748372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ítulo 1"/>
          <p:cNvSpPr>
            <a:spLocks noGrp="1"/>
          </p:cNvSpPr>
          <p:nvPr>
            <p:ph type="ctrTitle"/>
          </p:nvPr>
        </p:nvSpPr>
        <p:spPr>
          <a:xfrm>
            <a:off x="577850" y="4077072"/>
            <a:ext cx="7772400" cy="1470025"/>
          </a:xfrm>
        </p:spPr>
        <p:txBody>
          <a:bodyPr/>
          <a:lstStyle/>
          <a:p>
            <a:r>
              <a:rPr lang="pt-BR" sz="3500" b="1" dirty="0">
                <a:latin typeface="Calibri" pitchFamily="34" charset="0"/>
              </a:rPr>
              <a:t>CSS - Introdução</a:t>
            </a:r>
          </a:p>
        </p:txBody>
      </p:sp>
      <p:sp>
        <p:nvSpPr>
          <p:cNvPr id="11267" name="Subtítulo 2"/>
          <p:cNvSpPr>
            <a:spLocks noGrp="1"/>
          </p:cNvSpPr>
          <p:nvPr>
            <p:ph type="subTitle" idx="1"/>
          </p:nvPr>
        </p:nvSpPr>
        <p:spPr>
          <a:xfrm>
            <a:off x="1403350" y="5300663"/>
            <a:ext cx="6400800" cy="842962"/>
          </a:xfrm>
        </p:spPr>
        <p:txBody>
          <a:bodyPr/>
          <a:lstStyle/>
          <a:p>
            <a:r>
              <a:rPr lang="pt-BR" i="1" dirty="0">
                <a:latin typeface="Calibri" pitchFamily="34" charset="0"/>
              </a:rPr>
              <a:t>Prof. Daniel Vasconcelos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CSS</a:t>
            </a: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029" y="1844824"/>
            <a:ext cx="3251941" cy="3251941"/>
          </a:xfrm>
        </p:spPr>
      </p:pic>
      <p:sp>
        <p:nvSpPr>
          <p:cNvPr id="5" name="CaixaDeTexto 4"/>
          <p:cNvSpPr txBox="1"/>
          <p:nvPr/>
        </p:nvSpPr>
        <p:spPr>
          <a:xfrm>
            <a:off x="2908308" y="5085184"/>
            <a:ext cx="331853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nome_do_arquivo.css</a:t>
            </a:r>
          </a:p>
        </p:txBody>
      </p:sp>
    </p:spTree>
    <p:extLst>
      <p:ext uri="{BB962C8B-B14F-4D97-AF65-F5344CB8AC3E}">
        <p14:creationId xmlns:p14="http://schemas.microsoft.com/office/powerpoint/2010/main" val="2560928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CSS</a:t>
            </a: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201" y="1844824"/>
            <a:ext cx="3251941" cy="3251941"/>
          </a:xfrm>
        </p:spPr>
      </p:pic>
      <p:sp>
        <p:nvSpPr>
          <p:cNvPr id="5" name="CaixaDeTexto 4"/>
          <p:cNvSpPr txBox="1"/>
          <p:nvPr/>
        </p:nvSpPr>
        <p:spPr>
          <a:xfrm>
            <a:off x="454480" y="5085184"/>
            <a:ext cx="331853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/>
              <a:t>nome_do_arquivo.css</a:t>
            </a:r>
          </a:p>
        </p:txBody>
      </p:sp>
      <p:sp>
        <p:nvSpPr>
          <p:cNvPr id="3" name="Seta para a direita 2"/>
          <p:cNvSpPr/>
          <p:nvPr/>
        </p:nvSpPr>
        <p:spPr>
          <a:xfrm>
            <a:off x="4064496" y="3429000"/>
            <a:ext cx="1015007" cy="5027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2723297"/>
            <a:ext cx="1416481" cy="1914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726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CSS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INLINE</a:t>
            </a:r>
          </a:p>
          <a:p>
            <a:r>
              <a:rPr lang="pt-B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INCORPORADO</a:t>
            </a:r>
          </a:p>
          <a:p>
            <a:r>
              <a:rPr lang="pt-B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EXTERNO</a:t>
            </a:r>
          </a:p>
          <a:p>
            <a:endParaRPr lang="pt-BR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7521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CSS INLINE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&lt;p </a:t>
            </a:r>
            <a:r>
              <a:rPr lang="pt-BR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style</a:t>
            </a:r>
            <a:r>
              <a:rPr lang="pt-B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=“color:#ff0000”&gt;</a:t>
            </a:r>
          </a:p>
          <a:p>
            <a:pPr marL="0" indent="0">
              <a:buNone/>
            </a:pPr>
            <a:r>
              <a:rPr lang="pt-BR" dirty="0">
                <a:solidFill>
                  <a:srgbClr val="FF0000"/>
                </a:solidFill>
              </a:rPr>
              <a:t>Texto com CSS </a:t>
            </a:r>
            <a:r>
              <a:rPr lang="pt-BR" dirty="0" err="1">
                <a:solidFill>
                  <a:srgbClr val="FF0000"/>
                </a:solidFill>
              </a:rPr>
              <a:t>inline</a:t>
            </a:r>
            <a:endParaRPr lang="pt-BR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pt-B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&lt;/p&gt;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02750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CSS INCORPORADO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>
                <a:solidFill>
                  <a:schemeClr val="bg2">
                    <a:lumMod val="60000"/>
                    <a:lumOff val="40000"/>
                  </a:schemeClr>
                </a:solidFill>
              </a:rPr>
              <a:t>&lt;</a:t>
            </a:r>
            <a:r>
              <a:rPr lang="pt-BR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head</a:t>
            </a:r>
            <a:r>
              <a:rPr lang="pt-BR" dirty="0">
                <a:solidFill>
                  <a:schemeClr val="bg2">
                    <a:lumMod val="60000"/>
                    <a:lumOff val="40000"/>
                  </a:schemeClr>
                </a:solidFill>
              </a:rPr>
              <a:t>&gt;</a:t>
            </a:r>
          </a:p>
          <a:p>
            <a:pPr marL="0" indent="0">
              <a:buNone/>
            </a:pPr>
            <a:r>
              <a:rPr lang="pt-BR" dirty="0">
                <a:solidFill>
                  <a:schemeClr val="bg2">
                    <a:lumMod val="60000"/>
                    <a:lumOff val="40000"/>
                  </a:schemeClr>
                </a:solidFill>
              </a:rPr>
              <a:t>&lt;/</a:t>
            </a:r>
            <a:r>
              <a:rPr lang="pt-BR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head</a:t>
            </a:r>
            <a:r>
              <a:rPr lang="pt-BR" dirty="0">
                <a:solidFill>
                  <a:schemeClr val="bg2">
                    <a:lumMod val="60000"/>
                    <a:lumOff val="40000"/>
                  </a:schemeClr>
                </a:solidFill>
              </a:rPr>
              <a:t>&gt;</a:t>
            </a:r>
          </a:p>
          <a:p>
            <a:pPr marL="0" indent="0">
              <a:buNone/>
            </a:pPr>
            <a:r>
              <a:rPr lang="pt-BR" dirty="0"/>
              <a:t>&lt;</a:t>
            </a:r>
            <a:r>
              <a:rPr lang="pt-BR" dirty="0" err="1"/>
              <a:t>style</a:t>
            </a:r>
            <a:r>
              <a:rPr lang="pt-BR" dirty="0"/>
              <a:t> </a:t>
            </a:r>
            <a:r>
              <a:rPr lang="pt-BR" dirty="0" err="1"/>
              <a:t>type</a:t>
            </a:r>
            <a:r>
              <a:rPr lang="pt-BR" dirty="0"/>
              <a:t>=“</a:t>
            </a:r>
            <a:r>
              <a:rPr lang="pt-BR" dirty="0" err="1"/>
              <a:t>text</a:t>
            </a:r>
            <a:r>
              <a:rPr lang="pt-BR" dirty="0"/>
              <a:t>/</a:t>
            </a:r>
            <a:r>
              <a:rPr lang="pt-BR" dirty="0" err="1"/>
              <a:t>css</a:t>
            </a:r>
            <a:r>
              <a:rPr lang="pt-BR" dirty="0"/>
              <a:t>”&gt;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&lt;/</a:t>
            </a:r>
            <a:r>
              <a:rPr lang="pt-BR" dirty="0" err="1"/>
              <a:t>style</a:t>
            </a:r>
            <a:r>
              <a:rPr lang="pt-BR" dirty="0"/>
              <a:t>&gt;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93640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CSS EXTERNO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>
                <a:solidFill>
                  <a:schemeClr val="bg2">
                    <a:lumMod val="60000"/>
                    <a:lumOff val="40000"/>
                  </a:schemeClr>
                </a:solidFill>
              </a:rPr>
              <a:t>&lt;</a:t>
            </a:r>
            <a:r>
              <a:rPr lang="pt-BR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head</a:t>
            </a:r>
            <a:r>
              <a:rPr lang="pt-BR" dirty="0">
                <a:solidFill>
                  <a:schemeClr val="bg2">
                    <a:lumMod val="60000"/>
                    <a:lumOff val="40000"/>
                  </a:schemeClr>
                </a:solidFill>
              </a:rPr>
              <a:t>&gt;</a:t>
            </a:r>
          </a:p>
          <a:p>
            <a:pPr marL="0" indent="0">
              <a:buNone/>
            </a:pPr>
            <a:r>
              <a:rPr lang="pt-BR" sz="3000" dirty="0"/>
              <a:t>&lt;link </a:t>
            </a:r>
            <a:r>
              <a:rPr lang="pt-BR" sz="3000" dirty="0" err="1">
                <a:solidFill>
                  <a:srgbClr val="00B050"/>
                </a:solidFill>
              </a:rPr>
              <a:t>rel</a:t>
            </a:r>
            <a:r>
              <a:rPr lang="pt-BR" sz="3000" dirty="0"/>
              <a:t>=“</a:t>
            </a:r>
            <a:r>
              <a:rPr lang="pt-BR" sz="3000" dirty="0" err="1">
                <a:solidFill>
                  <a:srgbClr val="0070C0"/>
                </a:solidFill>
              </a:rPr>
              <a:t>stylesheet</a:t>
            </a:r>
            <a:r>
              <a:rPr lang="pt-BR" sz="3000" dirty="0">
                <a:solidFill>
                  <a:srgbClr val="0070C0"/>
                </a:solidFill>
              </a:rPr>
              <a:t>”</a:t>
            </a:r>
            <a:r>
              <a:rPr lang="pt-BR" sz="3000" dirty="0"/>
              <a:t> </a:t>
            </a:r>
            <a:r>
              <a:rPr lang="pt-BR" sz="3000" dirty="0" err="1">
                <a:solidFill>
                  <a:srgbClr val="00B050"/>
                </a:solidFill>
              </a:rPr>
              <a:t>href</a:t>
            </a:r>
            <a:r>
              <a:rPr lang="pt-BR" sz="3000" dirty="0"/>
              <a:t>="</a:t>
            </a:r>
            <a:r>
              <a:rPr lang="pt-BR" sz="3000" dirty="0">
                <a:solidFill>
                  <a:srgbClr val="0070C0"/>
                </a:solidFill>
              </a:rPr>
              <a:t>estilo.css</a:t>
            </a:r>
            <a:r>
              <a:rPr lang="pt-BR" sz="3000" dirty="0"/>
              <a:t>" /&gt;</a:t>
            </a:r>
          </a:p>
          <a:p>
            <a:pPr marL="0" indent="0">
              <a:buNone/>
            </a:pPr>
            <a:r>
              <a:rPr lang="pt-BR" dirty="0">
                <a:solidFill>
                  <a:schemeClr val="bg2">
                    <a:lumMod val="60000"/>
                    <a:lumOff val="40000"/>
                  </a:schemeClr>
                </a:solidFill>
              </a:rPr>
              <a:t>&lt;/</a:t>
            </a:r>
            <a:r>
              <a:rPr lang="pt-BR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head</a:t>
            </a:r>
            <a:r>
              <a:rPr lang="pt-BR" dirty="0">
                <a:solidFill>
                  <a:schemeClr val="bg2">
                    <a:lumMod val="60000"/>
                    <a:lumOff val="40000"/>
                  </a:schemeClr>
                </a:solidFill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208606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Sintaxe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pt-BR" sz="4000" b="1" dirty="0">
                <a:solidFill>
                  <a:srgbClr val="00B050"/>
                </a:solidFill>
              </a:rPr>
              <a:t>seletor</a:t>
            </a:r>
            <a:r>
              <a:rPr lang="pt-BR" sz="4000" b="1" dirty="0"/>
              <a:t> { </a:t>
            </a:r>
            <a:r>
              <a:rPr lang="pt-BR" sz="4000" b="1" dirty="0" err="1">
                <a:solidFill>
                  <a:srgbClr val="00B0F0"/>
                </a:solidFill>
              </a:rPr>
              <a:t>atributo</a:t>
            </a:r>
            <a:r>
              <a:rPr lang="pt-BR" sz="4000" b="1" dirty="0" err="1"/>
              <a:t>:</a:t>
            </a:r>
            <a:r>
              <a:rPr lang="pt-BR" sz="4000" b="1" dirty="0" err="1">
                <a:solidFill>
                  <a:srgbClr val="FF0000"/>
                </a:solidFill>
              </a:rPr>
              <a:t>valor</a:t>
            </a:r>
            <a:r>
              <a:rPr lang="pt-BR" sz="4000" b="1" dirty="0"/>
              <a:t>; }</a:t>
            </a:r>
          </a:p>
        </p:txBody>
      </p:sp>
    </p:spTree>
    <p:extLst>
      <p:ext uri="{BB962C8B-B14F-4D97-AF65-F5344CB8AC3E}">
        <p14:creationId xmlns:p14="http://schemas.microsoft.com/office/powerpoint/2010/main" val="2789796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Sintaxe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4000" b="1" dirty="0">
                <a:solidFill>
                  <a:srgbClr val="00B050"/>
                </a:solidFill>
              </a:rPr>
              <a:t>seletor</a:t>
            </a:r>
            <a:r>
              <a:rPr lang="pt-BR" sz="4000" b="1" dirty="0"/>
              <a:t> { </a:t>
            </a:r>
          </a:p>
          <a:p>
            <a:pPr marL="0" indent="0">
              <a:buNone/>
            </a:pPr>
            <a:r>
              <a:rPr lang="pt-BR" sz="4000" b="1" dirty="0">
                <a:solidFill>
                  <a:srgbClr val="00B0F0"/>
                </a:solidFill>
              </a:rPr>
              <a:t>atributo1</a:t>
            </a:r>
            <a:r>
              <a:rPr lang="pt-BR" sz="4000" b="1" dirty="0"/>
              <a:t>:</a:t>
            </a:r>
            <a:r>
              <a:rPr lang="pt-BR" sz="4000" b="1" dirty="0">
                <a:solidFill>
                  <a:srgbClr val="FF0000"/>
                </a:solidFill>
              </a:rPr>
              <a:t>valor</a:t>
            </a:r>
            <a:r>
              <a:rPr lang="pt-BR" sz="4000" b="1" dirty="0"/>
              <a:t>; </a:t>
            </a:r>
          </a:p>
          <a:p>
            <a:pPr marL="0" indent="0">
              <a:buNone/>
            </a:pPr>
            <a:r>
              <a:rPr lang="pt-BR" sz="4000" b="1" dirty="0">
                <a:solidFill>
                  <a:srgbClr val="00B0F0"/>
                </a:solidFill>
              </a:rPr>
              <a:t>atributo2</a:t>
            </a:r>
            <a:r>
              <a:rPr lang="pt-BR" sz="4000" b="1" dirty="0"/>
              <a:t>:</a:t>
            </a:r>
            <a:r>
              <a:rPr lang="pt-BR" sz="4000" b="1" dirty="0">
                <a:solidFill>
                  <a:srgbClr val="FF0000"/>
                </a:solidFill>
              </a:rPr>
              <a:t>valor</a:t>
            </a:r>
            <a:r>
              <a:rPr lang="pt-BR" sz="4000" b="1" dirty="0"/>
              <a:t>; </a:t>
            </a:r>
          </a:p>
          <a:p>
            <a:pPr marL="0" indent="0">
              <a:buNone/>
            </a:pPr>
            <a:r>
              <a:rPr lang="pt-BR" sz="4000" b="1" dirty="0">
                <a:solidFill>
                  <a:srgbClr val="00B0F0"/>
                </a:solidFill>
              </a:rPr>
              <a:t>atributo3</a:t>
            </a:r>
            <a:r>
              <a:rPr lang="pt-BR" sz="4000" b="1" dirty="0"/>
              <a:t>:</a:t>
            </a:r>
            <a:r>
              <a:rPr lang="pt-BR" sz="4000" b="1" dirty="0">
                <a:solidFill>
                  <a:srgbClr val="FF0000"/>
                </a:solidFill>
              </a:rPr>
              <a:t>valor</a:t>
            </a:r>
            <a:r>
              <a:rPr lang="pt-BR" sz="4000" b="1" dirty="0"/>
              <a:t>; </a:t>
            </a:r>
          </a:p>
          <a:p>
            <a:pPr marL="0" indent="0">
              <a:buNone/>
            </a:pPr>
            <a:r>
              <a:rPr lang="pt-BR" sz="40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7719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Exemplo: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4000" b="1" dirty="0">
                <a:solidFill>
                  <a:srgbClr val="00B050"/>
                </a:solidFill>
              </a:rPr>
              <a:t>p</a:t>
            </a:r>
            <a:r>
              <a:rPr lang="pt-BR" sz="4000" b="1" dirty="0"/>
              <a:t> { </a:t>
            </a:r>
          </a:p>
          <a:p>
            <a:pPr marL="0" indent="0">
              <a:buNone/>
            </a:pPr>
            <a:r>
              <a:rPr lang="pt-BR" sz="4000" b="1" dirty="0">
                <a:solidFill>
                  <a:srgbClr val="00B0F0"/>
                </a:solidFill>
              </a:rPr>
              <a:t>color: </a:t>
            </a:r>
            <a:r>
              <a:rPr lang="pt-BR" sz="4000" b="1" dirty="0">
                <a:solidFill>
                  <a:srgbClr val="FF0000"/>
                </a:solidFill>
              </a:rPr>
              <a:t>#000000</a:t>
            </a:r>
            <a:r>
              <a:rPr lang="pt-BR" sz="4000" b="1" dirty="0">
                <a:solidFill>
                  <a:srgbClr val="00B0F0"/>
                </a:solidFill>
              </a:rPr>
              <a:t>;</a:t>
            </a:r>
            <a:endParaRPr lang="pt-BR" sz="4000" b="1" dirty="0"/>
          </a:p>
          <a:p>
            <a:pPr marL="0" indent="0">
              <a:buNone/>
            </a:pPr>
            <a:r>
              <a:rPr lang="pt-BR" sz="40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91135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Exemplo: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4000" b="1" dirty="0">
                <a:solidFill>
                  <a:srgbClr val="00B050"/>
                </a:solidFill>
              </a:rPr>
              <a:t>p</a:t>
            </a:r>
            <a:r>
              <a:rPr lang="pt-BR" sz="4000" b="1" dirty="0"/>
              <a:t> { </a:t>
            </a:r>
          </a:p>
          <a:p>
            <a:pPr marL="0" indent="0">
              <a:buNone/>
            </a:pPr>
            <a:r>
              <a:rPr lang="pt-BR" sz="4000" b="1" dirty="0">
                <a:solidFill>
                  <a:srgbClr val="00B0F0"/>
                </a:solidFill>
              </a:rPr>
              <a:t>color: </a:t>
            </a:r>
            <a:r>
              <a:rPr lang="pt-BR" sz="4000" b="1" dirty="0">
                <a:solidFill>
                  <a:srgbClr val="FF0000"/>
                </a:solidFill>
              </a:rPr>
              <a:t>#000000</a:t>
            </a:r>
            <a:r>
              <a:rPr lang="pt-BR" sz="4000" b="1" dirty="0">
                <a:solidFill>
                  <a:srgbClr val="00B0F0"/>
                </a:solidFill>
              </a:rPr>
              <a:t>;</a:t>
            </a:r>
          </a:p>
          <a:p>
            <a:pPr marL="0" indent="0">
              <a:buNone/>
            </a:pPr>
            <a:r>
              <a:rPr lang="pt-BR" sz="4000" b="1" dirty="0" err="1">
                <a:solidFill>
                  <a:srgbClr val="00B0F0"/>
                </a:solidFill>
              </a:rPr>
              <a:t>margin</a:t>
            </a:r>
            <a:r>
              <a:rPr lang="pt-BR" sz="4000" b="1" dirty="0">
                <a:solidFill>
                  <a:srgbClr val="00B0F0"/>
                </a:solidFill>
              </a:rPr>
              <a:t>-top: </a:t>
            </a:r>
            <a:r>
              <a:rPr lang="pt-BR" sz="4000" b="1" dirty="0">
                <a:solidFill>
                  <a:srgbClr val="FF0000"/>
                </a:solidFill>
              </a:rPr>
              <a:t>20px</a:t>
            </a:r>
            <a:r>
              <a:rPr lang="pt-BR" sz="4000" b="1" dirty="0">
                <a:solidFill>
                  <a:srgbClr val="00B0F0"/>
                </a:solidFill>
              </a:rPr>
              <a:t>;</a:t>
            </a:r>
            <a:endParaRPr lang="pt-BR" sz="4000" b="1" dirty="0"/>
          </a:p>
          <a:p>
            <a:pPr marL="0" indent="0">
              <a:buNone/>
            </a:pPr>
            <a:r>
              <a:rPr lang="pt-BR" sz="40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6584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rgbClr val="00B050"/>
                </a:solidFill>
              </a:rPr>
              <a:t>Seletores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Tags</a:t>
            </a:r>
            <a:endParaRPr lang="pt-BR" dirty="0"/>
          </a:p>
          <a:p>
            <a:r>
              <a:rPr lang="pt-BR" dirty="0"/>
              <a:t>Classes</a:t>
            </a:r>
          </a:p>
          <a:p>
            <a:r>
              <a:rPr lang="pt-BR" dirty="0" err="1"/>
              <a:t>Id’s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512692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Seletores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Tags</a:t>
            </a:r>
            <a:br>
              <a:rPr lang="pt-BR" dirty="0"/>
            </a:br>
            <a:r>
              <a:rPr lang="pt-BR" sz="2200" dirty="0" err="1">
                <a:solidFill>
                  <a:schemeClr val="bg1">
                    <a:lumMod val="65000"/>
                  </a:schemeClr>
                </a:solidFill>
              </a:rPr>
              <a:t>body</a:t>
            </a:r>
            <a:r>
              <a:rPr lang="pt-BR" sz="2200" dirty="0">
                <a:solidFill>
                  <a:schemeClr val="bg1">
                    <a:lumMod val="65000"/>
                  </a:schemeClr>
                </a:solidFill>
              </a:rPr>
              <a:t>{ }</a:t>
            </a:r>
            <a:br>
              <a:rPr lang="pt-BR" sz="2200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pt-BR" sz="2200" dirty="0">
                <a:solidFill>
                  <a:schemeClr val="bg1">
                    <a:lumMod val="65000"/>
                  </a:schemeClr>
                </a:solidFill>
              </a:rPr>
              <a:t>a{ }</a:t>
            </a:r>
            <a:br>
              <a:rPr lang="pt-BR" sz="2200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pt-BR" sz="2200" dirty="0">
                <a:solidFill>
                  <a:schemeClr val="bg1">
                    <a:lumMod val="65000"/>
                  </a:schemeClr>
                </a:solidFill>
              </a:rPr>
              <a:t>p { }</a:t>
            </a:r>
            <a:br>
              <a:rPr lang="pt-BR" dirty="0">
                <a:solidFill>
                  <a:schemeClr val="bg1">
                    <a:lumMod val="65000"/>
                  </a:schemeClr>
                </a:solidFill>
              </a:rPr>
            </a:br>
            <a:endParaRPr lang="pt-BR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pt-BR" dirty="0"/>
              <a:t>Classes</a:t>
            </a:r>
            <a:br>
              <a:rPr lang="pt-BR" dirty="0"/>
            </a:br>
            <a:r>
              <a:rPr lang="pt-BR" sz="3000" dirty="0">
                <a:solidFill>
                  <a:schemeClr val="bg1">
                    <a:lumMod val="65000"/>
                  </a:schemeClr>
                </a:solidFill>
              </a:rPr>
              <a:t>.</a:t>
            </a:r>
            <a:r>
              <a:rPr lang="pt-BR" sz="3000" dirty="0" err="1">
                <a:solidFill>
                  <a:schemeClr val="bg1">
                    <a:lumMod val="65000"/>
                  </a:schemeClr>
                </a:solidFill>
              </a:rPr>
              <a:t>nome_da_classe</a:t>
            </a:r>
            <a:r>
              <a:rPr lang="pt-BR" sz="3000" dirty="0">
                <a:solidFill>
                  <a:schemeClr val="bg1">
                    <a:lumMod val="65000"/>
                  </a:schemeClr>
                </a:solidFill>
              </a:rPr>
              <a:t>{ }</a:t>
            </a:r>
            <a:br>
              <a:rPr lang="pt-BR" dirty="0">
                <a:solidFill>
                  <a:schemeClr val="bg1">
                    <a:lumMod val="65000"/>
                  </a:schemeClr>
                </a:solidFill>
              </a:rPr>
            </a:br>
            <a:endParaRPr lang="pt-BR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pt-BR" dirty="0" err="1"/>
              <a:t>Id’s</a:t>
            </a:r>
            <a:br>
              <a:rPr lang="pt-BR" dirty="0"/>
            </a:br>
            <a:r>
              <a:rPr lang="pt-BR" sz="3000" dirty="0">
                <a:solidFill>
                  <a:schemeClr val="bg1">
                    <a:lumMod val="65000"/>
                  </a:schemeClr>
                </a:solidFill>
              </a:rPr>
              <a:t>#</a:t>
            </a:r>
            <a:r>
              <a:rPr lang="pt-BR" sz="3000" dirty="0" err="1">
                <a:solidFill>
                  <a:schemeClr val="bg1">
                    <a:lumMod val="65000"/>
                  </a:schemeClr>
                </a:solidFill>
              </a:rPr>
              <a:t>nome_da_id</a:t>
            </a:r>
            <a:r>
              <a:rPr lang="pt-BR" sz="3000" dirty="0">
                <a:solidFill>
                  <a:schemeClr val="bg1">
                    <a:lumMod val="65000"/>
                  </a:schemeClr>
                </a:solidFill>
              </a:rPr>
              <a:t>{ }</a:t>
            </a:r>
          </a:p>
        </p:txBody>
      </p:sp>
    </p:spTree>
    <p:extLst>
      <p:ext uri="{BB962C8B-B14F-4D97-AF65-F5344CB8AC3E}">
        <p14:creationId xmlns:p14="http://schemas.microsoft.com/office/powerpoint/2010/main" val="13878805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Seletores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Tags</a:t>
            </a:r>
            <a:br>
              <a:rPr lang="pt-BR" dirty="0"/>
            </a:br>
            <a:r>
              <a:rPr lang="pt-BR" sz="2200" dirty="0" err="1">
                <a:solidFill>
                  <a:schemeClr val="bg1">
                    <a:lumMod val="65000"/>
                  </a:schemeClr>
                </a:solidFill>
              </a:rPr>
              <a:t>body</a:t>
            </a:r>
            <a:r>
              <a:rPr lang="pt-BR" sz="2200" dirty="0">
                <a:solidFill>
                  <a:schemeClr val="bg1">
                    <a:lumMod val="65000"/>
                  </a:schemeClr>
                </a:solidFill>
              </a:rPr>
              <a:t>{ }</a:t>
            </a:r>
            <a:br>
              <a:rPr lang="pt-BR" sz="2200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pt-BR" sz="2200" dirty="0">
                <a:solidFill>
                  <a:schemeClr val="bg1">
                    <a:lumMod val="65000"/>
                  </a:schemeClr>
                </a:solidFill>
              </a:rPr>
              <a:t>a{ }</a:t>
            </a:r>
            <a:br>
              <a:rPr lang="pt-BR" sz="2200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pt-BR" sz="2200" dirty="0">
                <a:solidFill>
                  <a:schemeClr val="bg1">
                    <a:lumMod val="65000"/>
                  </a:schemeClr>
                </a:solidFill>
              </a:rPr>
              <a:t>p { }</a:t>
            </a:r>
            <a:br>
              <a:rPr lang="pt-BR" dirty="0">
                <a:solidFill>
                  <a:schemeClr val="bg1">
                    <a:lumMod val="65000"/>
                  </a:schemeClr>
                </a:solidFill>
              </a:rPr>
            </a:br>
            <a:endParaRPr lang="pt-BR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pt-BR" dirty="0"/>
              <a:t>Classes</a:t>
            </a:r>
            <a:br>
              <a:rPr lang="pt-BR" dirty="0"/>
            </a:br>
            <a:r>
              <a:rPr lang="pt-BR" sz="4000" dirty="0">
                <a:solidFill>
                  <a:srgbClr val="FF0000"/>
                </a:solidFill>
              </a:rPr>
              <a:t>.</a:t>
            </a:r>
            <a:r>
              <a:rPr lang="pt-BR" sz="3000" dirty="0" err="1">
                <a:solidFill>
                  <a:schemeClr val="bg1">
                    <a:lumMod val="75000"/>
                  </a:schemeClr>
                </a:solidFill>
              </a:rPr>
              <a:t>nome_da_classe</a:t>
            </a:r>
            <a:r>
              <a:rPr lang="pt-BR" sz="3000" dirty="0">
                <a:solidFill>
                  <a:schemeClr val="bg1">
                    <a:lumMod val="75000"/>
                  </a:schemeClr>
                </a:solidFill>
              </a:rPr>
              <a:t>{ }</a:t>
            </a:r>
            <a:br>
              <a:rPr lang="pt-BR" dirty="0">
                <a:solidFill>
                  <a:schemeClr val="bg1">
                    <a:lumMod val="75000"/>
                  </a:schemeClr>
                </a:solidFill>
              </a:rPr>
            </a:br>
            <a:endParaRPr lang="pt-BR" sz="100" dirty="0">
              <a:solidFill>
                <a:schemeClr val="bg1">
                  <a:lumMod val="75000"/>
                </a:schemeClr>
              </a:solidFill>
            </a:endParaRPr>
          </a:p>
          <a:p>
            <a:endParaRPr lang="pt-BR" sz="20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pt-BR" dirty="0" err="1"/>
              <a:t>Id’s</a:t>
            </a:r>
            <a:br>
              <a:rPr lang="pt-BR" dirty="0"/>
            </a:br>
            <a:r>
              <a:rPr lang="pt-BR" sz="4000" dirty="0">
                <a:solidFill>
                  <a:srgbClr val="FF0000"/>
                </a:solidFill>
              </a:rPr>
              <a:t>#</a:t>
            </a:r>
            <a:r>
              <a:rPr lang="pt-BR" sz="3000" dirty="0" err="1">
                <a:solidFill>
                  <a:schemeClr val="bg1">
                    <a:lumMod val="75000"/>
                  </a:schemeClr>
                </a:solidFill>
              </a:rPr>
              <a:t>nome_da_id</a:t>
            </a:r>
            <a:r>
              <a:rPr lang="pt-BR" sz="3000" dirty="0">
                <a:solidFill>
                  <a:schemeClr val="bg1">
                    <a:lumMod val="75000"/>
                  </a:schemeClr>
                </a:solidFill>
              </a:rPr>
              <a:t>{ }</a:t>
            </a:r>
          </a:p>
        </p:txBody>
      </p:sp>
      <p:sp>
        <p:nvSpPr>
          <p:cNvPr id="4" name="Seta para a direita 3"/>
          <p:cNvSpPr/>
          <p:nvPr/>
        </p:nvSpPr>
        <p:spPr>
          <a:xfrm>
            <a:off x="536835" y="4509120"/>
            <a:ext cx="290749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Seta para a direita 4"/>
          <p:cNvSpPr/>
          <p:nvPr/>
        </p:nvSpPr>
        <p:spPr>
          <a:xfrm>
            <a:off x="536835" y="5949280"/>
            <a:ext cx="290749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73598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Alterando a cor de fundo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pt-BR" b="1" dirty="0"/>
          </a:p>
          <a:p>
            <a:pPr marL="0" indent="0" algn="ctr">
              <a:buNone/>
            </a:pPr>
            <a:endParaRPr lang="pt-BR" b="1" dirty="0"/>
          </a:p>
          <a:p>
            <a:pPr marL="0" indent="0" algn="ctr">
              <a:buNone/>
            </a:pPr>
            <a:endParaRPr lang="pt-BR" b="1" dirty="0"/>
          </a:p>
          <a:p>
            <a:pPr marL="0" indent="0" algn="ctr">
              <a:buNone/>
            </a:pPr>
            <a:r>
              <a:rPr lang="pt-BR" b="1" dirty="0" err="1"/>
              <a:t>body</a:t>
            </a:r>
            <a:r>
              <a:rPr lang="pt-BR" b="1" dirty="0"/>
              <a:t> { background: #000; }</a:t>
            </a:r>
          </a:p>
        </p:txBody>
      </p:sp>
    </p:spTree>
    <p:extLst>
      <p:ext uri="{BB962C8B-B14F-4D97-AF65-F5344CB8AC3E}">
        <p14:creationId xmlns:p14="http://schemas.microsoft.com/office/powerpoint/2010/main" val="39298420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Alterando textos por CSS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>
                <a:solidFill>
                  <a:srgbClr val="00B050"/>
                </a:solidFill>
              </a:rPr>
              <a:t>&lt;p&gt;</a:t>
            </a:r>
          </a:p>
          <a:p>
            <a:pPr marL="0" indent="0">
              <a:buNone/>
            </a:pPr>
            <a:r>
              <a:rPr lang="pt-BR" dirty="0"/>
              <a:t>Um texto qualquer</a:t>
            </a:r>
          </a:p>
          <a:p>
            <a:pPr marL="0" indent="0">
              <a:buNone/>
            </a:pPr>
            <a:r>
              <a:rPr lang="pt-BR" dirty="0">
                <a:solidFill>
                  <a:srgbClr val="00B050"/>
                </a:solidFill>
              </a:rPr>
              <a:t>&lt;/p&gt;</a:t>
            </a:r>
          </a:p>
        </p:txBody>
      </p:sp>
    </p:spTree>
    <p:extLst>
      <p:ext uri="{BB962C8B-B14F-4D97-AF65-F5344CB8AC3E}">
        <p14:creationId xmlns:p14="http://schemas.microsoft.com/office/powerpoint/2010/main" val="2217074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/>
        </p:nvSpPr>
        <p:spPr>
          <a:xfrm>
            <a:off x="457200" y="2174875"/>
            <a:ext cx="3816424" cy="316835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4508542" y="2174875"/>
            <a:ext cx="3816424" cy="316835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Alterando textos por CSS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Arquivo.html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&lt;p&gt;</a:t>
            </a:r>
          </a:p>
          <a:p>
            <a:pPr marL="0" indent="0">
              <a:buNone/>
            </a:pPr>
            <a:r>
              <a:rPr lang="pt-BR" dirty="0"/>
              <a:t>Um texto qualquer</a:t>
            </a:r>
          </a:p>
          <a:p>
            <a:pPr marL="0" indent="0">
              <a:buNone/>
            </a:pPr>
            <a:r>
              <a:rPr lang="pt-BR" dirty="0"/>
              <a:t>&lt;/p&gt;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/>
              <a:t>Arquivo.css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p{</a:t>
            </a:r>
          </a:p>
          <a:p>
            <a:pPr marL="0" indent="0">
              <a:buNone/>
            </a:pPr>
            <a:r>
              <a:rPr lang="pt-BR" dirty="0"/>
              <a:t>color:#ff0000;</a:t>
            </a:r>
          </a:p>
          <a:p>
            <a:pPr marL="0" indent="0">
              <a:buNone/>
            </a:pPr>
            <a:r>
              <a:rPr lang="pt-B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600425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Alterando textos por CSS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Resultado:</a:t>
            </a:r>
          </a:p>
          <a:p>
            <a:pPr marL="0" indent="0">
              <a:buNone/>
            </a:pPr>
            <a:endParaRPr lang="pt-BR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pt-BR" dirty="0">
                <a:solidFill>
                  <a:srgbClr val="FF0000"/>
                </a:solidFill>
              </a:rPr>
              <a:t>Um texto qualquer</a:t>
            </a:r>
          </a:p>
        </p:txBody>
      </p:sp>
    </p:spTree>
    <p:extLst>
      <p:ext uri="{BB962C8B-B14F-4D97-AF65-F5344CB8AC3E}">
        <p14:creationId xmlns:p14="http://schemas.microsoft.com/office/powerpoint/2010/main" val="20414092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/>
        </p:nvSpPr>
        <p:spPr>
          <a:xfrm>
            <a:off x="457200" y="2174875"/>
            <a:ext cx="3816424" cy="316835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4508542" y="2174875"/>
            <a:ext cx="3816424" cy="316835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Alterando textos por CSS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Arquivo.html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&lt;p&gt;</a:t>
            </a:r>
          </a:p>
          <a:p>
            <a:pPr marL="0" indent="0">
              <a:buNone/>
            </a:pPr>
            <a:r>
              <a:rPr lang="pt-BR" dirty="0"/>
              <a:t>Um texto qualquer</a:t>
            </a:r>
          </a:p>
          <a:p>
            <a:pPr marL="0" indent="0">
              <a:buNone/>
            </a:pPr>
            <a:r>
              <a:rPr lang="pt-BR" dirty="0"/>
              <a:t>&lt;/p&gt;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/>
              <a:t>Arquivo.css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p{</a:t>
            </a:r>
          </a:p>
          <a:p>
            <a:pPr marL="0" indent="0">
              <a:buNone/>
            </a:pPr>
            <a:r>
              <a:rPr lang="pt-BR" dirty="0"/>
              <a:t>color:#ff0000;</a:t>
            </a:r>
          </a:p>
          <a:p>
            <a:pPr marL="0" indent="0">
              <a:buNone/>
            </a:pPr>
            <a:r>
              <a:rPr lang="pt-BR" dirty="0"/>
              <a:t>letter-spacing:10px;</a:t>
            </a:r>
          </a:p>
          <a:p>
            <a:pPr marL="0" indent="0">
              <a:buNone/>
            </a:pPr>
            <a:r>
              <a:rPr lang="pt-B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582454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Alterando textos por CSS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Resultado:</a:t>
            </a:r>
          </a:p>
          <a:p>
            <a:pPr marL="0" indent="0">
              <a:buNone/>
            </a:pPr>
            <a:endParaRPr lang="pt-BR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pt-BR" dirty="0">
                <a:solidFill>
                  <a:srgbClr val="FF0000"/>
                </a:solidFill>
              </a:rPr>
              <a:t>U m    t e x t o q u a l q u e r</a:t>
            </a:r>
          </a:p>
        </p:txBody>
      </p:sp>
    </p:spTree>
    <p:extLst>
      <p:ext uri="{BB962C8B-B14F-4D97-AF65-F5344CB8AC3E}">
        <p14:creationId xmlns:p14="http://schemas.microsoft.com/office/powerpoint/2010/main" val="6300661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/>
        </p:nvSpPr>
        <p:spPr>
          <a:xfrm>
            <a:off x="457200" y="2174875"/>
            <a:ext cx="3816424" cy="316835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4508542" y="2174875"/>
            <a:ext cx="3816424" cy="316835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Alterando textos por CSS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Arquivo.html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&lt;p&gt;</a:t>
            </a:r>
          </a:p>
          <a:p>
            <a:pPr marL="0" indent="0">
              <a:buNone/>
            </a:pPr>
            <a:r>
              <a:rPr lang="pt-BR" dirty="0"/>
              <a:t>Um texto qualquer</a:t>
            </a:r>
          </a:p>
          <a:p>
            <a:pPr marL="0" indent="0">
              <a:buNone/>
            </a:pPr>
            <a:r>
              <a:rPr lang="pt-BR" dirty="0"/>
              <a:t>&lt;/p&gt;</a:t>
            </a:r>
          </a:p>
          <a:p>
            <a:pPr marL="0" indent="0">
              <a:buNone/>
            </a:pPr>
            <a:r>
              <a:rPr lang="pt-BR" dirty="0"/>
              <a:t>&lt;p&gt;</a:t>
            </a:r>
          </a:p>
          <a:p>
            <a:pPr marL="0" indent="0">
              <a:buNone/>
            </a:pPr>
            <a:r>
              <a:rPr lang="pt-BR" dirty="0"/>
              <a:t>Outro texto qualquer</a:t>
            </a:r>
          </a:p>
          <a:p>
            <a:pPr marL="0" indent="0">
              <a:buNone/>
            </a:pPr>
            <a:r>
              <a:rPr lang="pt-BR" dirty="0"/>
              <a:t>&lt;/p&gt;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/>
              <a:t>Arquivo.css</a:t>
            </a:r>
          </a:p>
        </p:txBody>
      </p:sp>
    </p:spTree>
    <p:extLst>
      <p:ext uri="{BB962C8B-B14F-4D97-AF65-F5344CB8AC3E}">
        <p14:creationId xmlns:p14="http://schemas.microsoft.com/office/powerpoint/2010/main" val="23887598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Alterando textos por CSS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Resultado:</a:t>
            </a:r>
          </a:p>
          <a:p>
            <a:pPr marL="0" indent="0">
              <a:buNone/>
            </a:pPr>
            <a:endParaRPr lang="pt-BR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pt-BR" dirty="0">
                <a:solidFill>
                  <a:srgbClr val="FF0000"/>
                </a:solidFill>
              </a:rPr>
              <a:t>Um texto qualquer</a:t>
            </a:r>
          </a:p>
          <a:p>
            <a:pPr marL="0" indent="0">
              <a:buNone/>
            </a:pPr>
            <a:r>
              <a:rPr lang="pt-BR" dirty="0">
                <a:solidFill>
                  <a:srgbClr val="0070C0"/>
                </a:solidFill>
              </a:rPr>
              <a:t>Outro texto qualquer</a:t>
            </a:r>
          </a:p>
        </p:txBody>
      </p:sp>
    </p:spTree>
    <p:extLst>
      <p:ext uri="{BB962C8B-B14F-4D97-AF65-F5344CB8AC3E}">
        <p14:creationId xmlns:p14="http://schemas.microsoft.com/office/powerpoint/2010/main" val="13767726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/>
        </p:nvSpPr>
        <p:spPr>
          <a:xfrm>
            <a:off x="457200" y="2174875"/>
            <a:ext cx="3816424" cy="316835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4508542" y="2174875"/>
            <a:ext cx="3816424" cy="316835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Alterando textos por CSS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Arquivo.html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&lt;p </a:t>
            </a:r>
            <a:r>
              <a:rPr lang="pt-BR" dirty="0" err="1">
                <a:solidFill>
                  <a:srgbClr val="FF0000"/>
                </a:solidFill>
              </a:rPr>
              <a:t>class</a:t>
            </a:r>
            <a:r>
              <a:rPr lang="pt-BR" dirty="0">
                <a:solidFill>
                  <a:srgbClr val="FF0000"/>
                </a:solidFill>
              </a:rPr>
              <a:t>=“vermelho”&gt;</a:t>
            </a:r>
          </a:p>
          <a:p>
            <a:pPr marL="0" indent="0">
              <a:buNone/>
            </a:pPr>
            <a:r>
              <a:rPr lang="pt-BR" dirty="0"/>
              <a:t>Um texto qualquer</a:t>
            </a:r>
          </a:p>
          <a:p>
            <a:pPr marL="0" indent="0">
              <a:buNone/>
            </a:pPr>
            <a:r>
              <a:rPr lang="pt-BR" dirty="0"/>
              <a:t>&lt;/p&gt;</a:t>
            </a:r>
          </a:p>
          <a:p>
            <a:pPr marL="0" indent="0">
              <a:buNone/>
            </a:pPr>
            <a:r>
              <a:rPr lang="pt-BR" dirty="0"/>
              <a:t>&lt;p </a:t>
            </a:r>
            <a:r>
              <a:rPr lang="pt-BR" dirty="0" err="1">
                <a:solidFill>
                  <a:srgbClr val="0070C0"/>
                </a:solidFill>
              </a:rPr>
              <a:t>class</a:t>
            </a:r>
            <a:r>
              <a:rPr lang="pt-BR" dirty="0">
                <a:solidFill>
                  <a:srgbClr val="0070C0"/>
                </a:solidFill>
              </a:rPr>
              <a:t>=“azul”&gt;</a:t>
            </a:r>
          </a:p>
          <a:p>
            <a:pPr marL="0" indent="0">
              <a:buNone/>
            </a:pPr>
            <a:r>
              <a:rPr lang="pt-BR" dirty="0"/>
              <a:t>Outro texto qualquer</a:t>
            </a:r>
          </a:p>
          <a:p>
            <a:pPr marL="0" indent="0">
              <a:buNone/>
            </a:pPr>
            <a:r>
              <a:rPr lang="pt-BR" dirty="0"/>
              <a:t>&lt;/p&gt;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/>
              <a:t>Arquivo.css</a:t>
            </a:r>
          </a:p>
        </p:txBody>
      </p:sp>
    </p:spTree>
    <p:extLst>
      <p:ext uri="{BB962C8B-B14F-4D97-AF65-F5344CB8AC3E}">
        <p14:creationId xmlns:p14="http://schemas.microsoft.com/office/powerpoint/2010/main" val="32497126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/>
        </p:nvSpPr>
        <p:spPr>
          <a:xfrm>
            <a:off x="457200" y="2174875"/>
            <a:ext cx="3816424" cy="316835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4508542" y="2174875"/>
            <a:ext cx="3816424" cy="316835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Alterando textos por CSS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Arquivo.html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&lt;p </a:t>
            </a:r>
            <a:r>
              <a:rPr lang="pt-BR" dirty="0" err="1">
                <a:solidFill>
                  <a:srgbClr val="FF0000"/>
                </a:solidFill>
              </a:rPr>
              <a:t>class</a:t>
            </a:r>
            <a:r>
              <a:rPr lang="pt-BR" dirty="0">
                <a:solidFill>
                  <a:srgbClr val="FF0000"/>
                </a:solidFill>
              </a:rPr>
              <a:t>=“vermelho”&gt;</a:t>
            </a:r>
          </a:p>
          <a:p>
            <a:pPr marL="0" indent="0">
              <a:buNone/>
            </a:pPr>
            <a:r>
              <a:rPr lang="pt-BR" dirty="0"/>
              <a:t>Um texto qualquer</a:t>
            </a:r>
          </a:p>
          <a:p>
            <a:pPr marL="0" indent="0">
              <a:buNone/>
            </a:pPr>
            <a:r>
              <a:rPr lang="pt-BR" dirty="0"/>
              <a:t>&lt;/p&gt;</a:t>
            </a:r>
          </a:p>
          <a:p>
            <a:pPr marL="0" indent="0">
              <a:buNone/>
            </a:pPr>
            <a:r>
              <a:rPr lang="pt-BR" dirty="0"/>
              <a:t>&lt;p </a:t>
            </a:r>
            <a:r>
              <a:rPr lang="pt-BR" dirty="0" err="1">
                <a:solidFill>
                  <a:srgbClr val="0070C0"/>
                </a:solidFill>
              </a:rPr>
              <a:t>class</a:t>
            </a:r>
            <a:r>
              <a:rPr lang="pt-BR" dirty="0">
                <a:solidFill>
                  <a:srgbClr val="0070C0"/>
                </a:solidFill>
              </a:rPr>
              <a:t>=“azul”&gt;</a:t>
            </a:r>
          </a:p>
          <a:p>
            <a:pPr marL="0" indent="0">
              <a:buNone/>
            </a:pPr>
            <a:r>
              <a:rPr lang="pt-BR" dirty="0"/>
              <a:t>Outro texto qualquer</a:t>
            </a:r>
          </a:p>
          <a:p>
            <a:pPr marL="0" indent="0">
              <a:buNone/>
            </a:pPr>
            <a:r>
              <a:rPr lang="pt-BR" dirty="0"/>
              <a:t>&lt;/p&gt;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/>
              <a:t>Arquivo.css</a:t>
            </a:r>
          </a:p>
        </p:txBody>
      </p:sp>
      <p:sp>
        <p:nvSpPr>
          <p:cNvPr id="8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08542" y="2174875"/>
            <a:ext cx="3816424" cy="3951288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.vermelho { </a:t>
            </a:r>
          </a:p>
          <a:p>
            <a:pPr marL="0" indent="0">
              <a:buNone/>
            </a:pPr>
            <a:r>
              <a:rPr lang="pt-BR" dirty="0"/>
              <a:t>}</a:t>
            </a:r>
          </a:p>
          <a:p>
            <a:pPr marL="0" indent="0">
              <a:buNone/>
            </a:pPr>
            <a:r>
              <a:rPr lang="pt-BR" dirty="0"/>
              <a:t>.azul { </a:t>
            </a:r>
          </a:p>
          <a:p>
            <a:pPr marL="0" indent="0">
              <a:buNone/>
            </a:pPr>
            <a:r>
              <a:rPr lang="pt-B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878686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/>
        </p:nvSpPr>
        <p:spPr>
          <a:xfrm>
            <a:off x="457200" y="2174875"/>
            <a:ext cx="3816424" cy="316835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4508542" y="2174875"/>
            <a:ext cx="3816424" cy="316835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Alterando textos por CSS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Arquivo.html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&lt;p </a:t>
            </a:r>
            <a:r>
              <a:rPr lang="pt-BR" dirty="0" err="1">
                <a:solidFill>
                  <a:srgbClr val="FF0000"/>
                </a:solidFill>
              </a:rPr>
              <a:t>class</a:t>
            </a:r>
            <a:r>
              <a:rPr lang="pt-BR" dirty="0">
                <a:solidFill>
                  <a:srgbClr val="FF0000"/>
                </a:solidFill>
              </a:rPr>
              <a:t>=“vermelho”&gt;</a:t>
            </a:r>
          </a:p>
          <a:p>
            <a:pPr marL="0" indent="0">
              <a:buNone/>
            </a:pPr>
            <a:r>
              <a:rPr lang="pt-BR" dirty="0"/>
              <a:t>Um texto qualquer</a:t>
            </a:r>
          </a:p>
          <a:p>
            <a:pPr marL="0" indent="0">
              <a:buNone/>
            </a:pPr>
            <a:r>
              <a:rPr lang="pt-BR" dirty="0"/>
              <a:t>&lt;/p&gt;</a:t>
            </a:r>
          </a:p>
          <a:p>
            <a:pPr marL="0" indent="0">
              <a:buNone/>
            </a:pPr>
            <a:r>
              <a:rPr lang="pt-BR" dirty="0"/>
              <a:t>&lt;p </a:t>
            </a:r>
            <a:r>
              <a:rPr lang="pt-BR" dirty="0" err="1">
                <a:solidFill>
                  <a:srgbClr val="0070C0"/>
                </a:solidFill>
              </a:rPr>
              <a:t>class</a:t>
            </a:r>
            <a:r>
              <a:rPr lang="pt-BR" dirty="0">
                <a:solidFill>
                  <a:srgbClr val="0070C0"/>
                </a:solidFill>
              </a:rPr>
              <a:t>=“azul”&gt;</a:t>
            </a:r>
          </a:p>
          <a:p>
            <a:pPr marL="0" indent="0">
              <a:buNone/>
            </a:pPr>
            <a:r>
              <a:rPr lang="pt-BR" dirty="0"/>
              <a:t>Outro texto qualquer</a:t>
            </a:r>
          </a:p>
          <a:p>
            <a:pPr marL="0" indent="0">
              <a:buNone/>
            </a:pPr>
            <a:r>
              <a:rPr lang="pt-BR" dirty="0"/>
              <a:t>&lt;/p&gt;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/>
              <a:t>Arquivo.css</a:t>
            </a:r>
          </a:p>
        </p:txBody>
      </p:sp>
      <p:sp>
        <p:nvSpPr>
          <p:cNvPr id="8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08542" y="2174875"/>
            <a:ext cx="3816424" cy="3951288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.vermelho { </a:t>
            </a:r>
          </a:p>
          <a:p>
            <a:pPr marL="0" indent="0">
              <a:buNone/>
            </a:pPr>
            <a:r>
              <a:rPr lang="pt-BR" dirty="0"/>
              <a:t>color:#ff0000;</a:t>
            </a:r>
          </a:p>
          <a:p>
            <a:pPr marL="0" indent="0">
              <a:buNone/>
            </a:pPr>
            <a:r>
              <a:rPr lang="pt-BR" dirty="0"/>
              <a:t>}</a:t>
            </a:r>
          </a:p>
          <a:p>
            <a:pPr marL="0" indent="0">
              <a:buNone/>
            </a:pPr>
            <a:r>
              <a:rPr lang="pt-BR" dirty="0"/>
              <a:t>.azul { </a:t>
            </a:r>
          </a:p>
          <a:p>
            <a:pPr marL="0" indent="0">
              <a:buNone/>
            </a:pPr>
            <a:r>
              <a:rPr lang="pt-BR" dirty="0"/>
              <a:t>color:#0000ff;</a:t>
            </a:r>
          </a:p>
          <a:p>
            <a:pPr marL="0" indent="0">
              <a:buNone/>
            </a:pPr>
            <a:r>
              <a:rPr lang="pt-B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587487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Alterando textos por CSS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Resultado:</a:t>
            </a:r>
          </a:p>
          <a:p>
            <a:pPr marL="0" indent="0">
              <a:buNone/>
            </a:pPr>
            <a:endParaRPr lang="pt-BR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pt-BR" dirty="0">
                <a:solidFill>
                  <a:srgbClr val="FF0000"/>
                </a:solidFill>
              </a:rPr>
              <a:t>Um texto </a:t>
            </a:r>
            <a:r>
              <a:rPr lang="pt-BR" dirty="0">
                <a:solidFill>
                  <a:srgbClr val="0070C0"/>
                </a:solidFill>
              </a:rPr>
              <a:t>qualquer</a:t>
            </a:r>
          </a:p>
        </p:txBody>
      </p:sp>
    </p:spTree>
    <p:extLst>
      <p:ext uri="{BB962C8B-B14F-4D97-AF65-F5344CB8AC3E}">
        <p14:creationId xmlns:p14="http://schemas.microsoft.com/office/powerpoint/2010/main" val="31872262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/>
        </p:nvSpPr>
        <p:spPr>
          <a:xfrm>
            <a:off x="457200" y="2174875"/>
            <a:ext cx="3816424" cy="316835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4508542" y="2174875"/>
            <a:ext cx="3816424" cy="316835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Alterando textos por CSS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Arquivo.html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&lt;p </a:t>
            </a:r>
            <a:r>
              <a:rPr lang="pt-BR" dirty="0" err="1">
                <a:solidFill>
                  <a:srgbClr val="FF0000"/>
                </a:solidFill>
              </a:rPr>
              <a:t>class</a:t>
            </a:r>
            <a:r>
              <a:rPr lang="pt-BR" dirty="0">
                <a:solidFill>
                  <a:srgbClr val="FF0000"/>
                </a:solidFill>
              </a:rPr>
              <a:t>=“vermelho”&gt;</a:t>
            </a:r>
          </a:p>
          <a:p>
            <a:pPr marL="0" indent="0">
              <a:buNone/>
            </a:pPr>
            <a:r>
              <a:rPr lang="pt-BR" dirty="0"/>
              <a:t>Um texto </a:t>
            </a:r>
          </a:p>
          <a:p>
            <a:pPr marL="0" indent="0">
              <a:buNone/>
            </a:pPr>
            <a:r>
              <a:rPr lang="pt-BR" dirty="0">
                <a:solidFill>
                  <a:srgbClr val="0070C0"/>
                </a:solidFill>
              </a:rPr>
              <a:t>&lt;</a:t>
            </a:r>
            <a:r>
              <a:rPr lang="pt-BR" dirty="0" err="1">
                <a:solidFill>
                  <a:srgbClr val="0070C0"/>
                </a:solidFill>
              </a:rPr>
              <a:t>span</a:t>
            </a:r>
            <a:r>
              <a:rPr lang="pt-BR" dirty="0">
                <a:solidFill>
                  <a:srgbClr val="0070C0"/>
                </a:solidFill>
              </a:rPr>
              <a:t> </a:t>
            </a:r>
            <a:r>
              <a:rPr lang="pt-BR" dirty="0" err="1">
                <a:solidFill>
                  <a:srgbClr val="0070C0"/>
                </a:solidFill>
              </a:rPr>
              <a:t>class</a:t>
            </a:r>
            <a:r>
              <a:rPr lang="pt-BR" dirty="0">
                <a:solidFill>
                  <a:srgbClr val="0070C0"/>
                </a:solidFill>
              </a:rPr>
              <a:t>=“azul”&gt;</a:t>
            </a:r>
          </a:p>
          <a:p>
            <a:pPr marL="0" indent="0">
              <a:buNone/>
            </a:pPr>
            <a:r>
              <a:rPr lang="pt-BR" dirty="0"/>
              <a:t>qualquer</a:t>
            </a:r>
            <a:r>
              <a:rPr lang="pt-BR" dirty="0">
                <a:solidFill>
                  <a:srgbClr val="0070C0"/>
                </a:solidFill>
              </a:rPr>
              <a:t>&lt;/</a:t>
            </a:r>
            <a:r>
              <a:rPr lang="pt-BR" dirty="0" err="1">
                <a:solidFill>
                  <a:srgbClr val="0070C0"/>
                </a:solidFill>
              </a:rPr>
              <a:t>span</a:t>
            </a:r>
            <a:r>
              <a:rPr lang="pt-BR" dirty="0">
                <a:solidFill>
                  <a:srgbClr val="0070C0"/>
                </a:solidFill>
              </a:rPr>
              <a:t>&gt;</a:t>
            </a:r>
          </a:p>
          <a:p>
            <a:pPr marL="0" indent="0">
              <a:buNone/>
            </a:pPr>
            <a:r>
              <a:rPr lang="pt-BR" dirty="0"/>
              <a:t>&lt;/p&gt;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/>
              <a:t>Arquivo.css</a:t>
            </a:r>
          </a:p>
        </p:txBody>
      </p:sp>
      <p:sp>
        <p:nvSpPr>
          <p:cNvPr id="8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08542" y="2174875"/>
            <a:ext cx="3816424" cy="3951288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.vermelho { </a:t>
            </a:r>
          </a:p>
          <a:p>
            <a:pPr marL="0" indent="0">
              <a:buNone/>
            </a:pPr>
            <a:r>
              <a:rPr lang="pt-BR" dirty="0"/>
              <a:t>color:#ff0000;</a:t>
            </a:r>
          </a:p>
          <a:p>
            <a:pPr marL="0" indent="0">
              <a:buNone/>
            </a:pPr>
            <a:r>
              <a:rPr lang="pt-BR" dirty="0"/>
              <a:t>}</a:t>
            </a:r>
          </a:p>
          <a:p>
            <a:pPr marL="0" indent="0">
              <a:buNone/>
            </a:pPr>
            <a:r>
              <a:rPr lang="pt-BR" dirty="0"/>
              <a:t>.azul { </a:t>
            </a:r>
          </a:p>
          <a:p>
            <a:pPr marL="0" indent="0">
              <a:buNone/>
            </a:pPr>
            <a:r>
              <a:rPr lang="pt-BR" dirty="0"/>
              <a:t>color:#0000ff;</a:t>
            </a:r>
          </a:p>
          <a:p>
            <a:pPr marL="0" indent="0">
              <a:buNone/>
            </a:pPr>
            <a:r>
              <a:rPr lang="pt-B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891213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/>
        </p:nvSpPr>
        <p:spPr>
          <a:xfrm>
            <a:off x="457200" y="2174875"/>
            <a:ext cx="3816424" cy="316835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4508542" y="2174875"/>
            <a:ext cx="3816424" cy="316835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Alterando textos por CSS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Arquivo.html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&lt;p </a:t>
            </a:r>
            <a:r>
              <a:rPr lang="pt-BR" dirty="0" err="1">
                <a:solidFill>
                  <a:srgbClr val="FF0000"/>
                </a:solidFill>
              </a:rPr>
              <a:t>class</a:t>
            </a:r>
            <a:r>
              <a:rPr lang="pt-BR" dirty="0">
                <a:solidFill>
                  <a:srgbClr val="FF0000"/>
                </a:solidFill>
              </a:rPr>
              <a:t>=“vermelho”&gt;</a:t>
            </a:r>
          </a:p>
          <a:p>
            <a:pPr marL="0" indent="0">
              <a:buNone/>
            </a:pPr>
            <a:r>
              <a:rPr lang="pt-BR" dirty="0"/>
              <a:t>Um texto </a:t>
            </a:r>
          </a:p>
          <a:p>
            <a:pPr marL="0" indent="0">
              <a:buNone/>
            </a:pPr>
            <a:r>
              <a:rPr lang="pt-BR" dirty="0">
                <a:solidFill>
                  <a:srgbClr val="0070C0"/>
                </a:solidFill>
              </a:rPr>
              <a:t>&lt;</a:t>
            </a:r>
            <a:r>
              <a:rPr lang="pt-BR" dirty="0" err="1">
                <a:solidFill>
                  <a:srgbClr val="0070C0"/>
                </a:solidFill>
              </a:rPr>
              <a:t>span</a:t>
            </a:r>
            <a:r>
              <a:rPr lang="pt-BR" dirty="0">
                <a:solidFill>
                  <a:srgbClr val="0070C0"/>
                </a:solidFill>
              </a:rPr>
              <a:t> </a:t>
            </a:r>
            <a:r>
              <a:rPr lang="pt-BR" dirty="0" err="1">
                <a:solidFill>
                  <a:srgbClr val="0070C0"/>
                </a:solidFill>
              </a:rPr>
              <a:t>class</a:t>
            </a:r>
            <a:r>
              <a:rPr lang="pt-BR" dirty="0">
                <a:solidFill>
                  <a:srgbClr val="0070C0"/>
                </a:solidFill>
              </a:rPr>
              <a:t>=“azul”&gt;</a:t>
            </a:r>
          </a:p>
          <a:p>
            <a:pPr marL="0" indent="0">
              <a:buNone/>
            </a:pPr>
            <a:r>
              <a:rPr lang="pt-BR" dirty="0"/>
              <a:t>qualquer</a:t>
            </a:r>
            <a:r>
              <a:rPr lang="pt-BR" dirty="0">
                <a:solidFill>
                  <a:srgbClr val="0070C0"/>
                </a:solidFill>
              </a:rPr>
              <a:t>&lt;/</a:t>
            </a:r>
            <a:r>
              <a:rPr lang="pt-BR" dirty="0" err="1">
                <a:solidFill>
                  <a:srgbClr val="0070C0"/>
                </a:solidFill>
              </a:rPr>
              <a:t>span</a:t>
            </a:r>
            <a:r>
              <a:rPr lang="pt-BR" dirty="0">
                <a:solidFill>
                  <a:srgbClr val="0070C0"/>
                </a:solidFill>
              </a:rPr>
              <a:t>&gt;</a:t>
            </a:r>
          </a:p>
          <a:p>
            <a:pPr marL="0" indent="0">
              <a:buNone/>
            </a:pPr>
            <a:r>
              <a:rPr lang="pt-BR" dirty="0"/>
              <a:t>&lt;/p&gt;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/>
              <a:t>Arquivo.css</a:t>
            </a:r>
          </a:p>
        </p:txBody>
      </p:sp>
      <p:sp>
        <p:nvSpPr>
          <p:cNvPr id="8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08542" y="2174875"/>
            <a:ext cx="3816424" cy="3951288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.vermelho { </a:t>
            </a:r>
          </a:p>
          <a:p>
            <a:pPr marL="0" indent="0">
              <a:buNone/>
            </a:pPr>
            <a:r>
              <a:rPr lang="pt-BR" dirty="0" err="1"/>
              <a:t>color:</a:t>
            </a:r>
            <a:r>
              <a:rPr lang="pt-BR" dirty="0" err="1">
                <a:solidFill>
                  <a:srgbClr val="FF0000"/>
                </a:solidFill>
              </a:rPr>
              <a:t>red</a:t>
            </a:r>
            <a:r>
              <a:rPr lang="pt-BR" dirty="0"/>
              <a:t>;</a:t>
            </a:r>
          </a:p>
          <a:p>
            <a:pPr marL="0" indent="0">
              <a:buNone/>
            </a:pPr>
            <a:r>
              <a:rPr lang="pt-BR" dirty="0"/>
              <a:t>}</a:t>
            </a:r>
          </a:p>
          <a:p>
            <a:pPr marL="0" indent="0">
              <a:buNone/>
            </a:pPr>
            <a:r>
              <a:rPr lang="pt-BR" dirty="0"/>
              <a:t>.azul { </a:t>
            </a:r>
          </a:p>
          <a:p>
            <a:pPr marL="0" indent="0">
              <a:buNone/>
            </a:pPr>
            <a:r>
              <a:rPr lang="pt-BR" dirty="0" err="1"/>
              <a:t>color:</a:t>
            </a:r>
            <a:r>
              <a:rPr lang="pt-BR" dirty="0" err="1">
                <a:solidFill>
                  <a:srgbClr val="002060"/>
                </a:solidFill>
              </a:rPr>
              <a:t>blue</a:t>
            </a:r>
            <a:r>
              <a:rPr lang="pt-BR" dirty="0"/>
              <a:t>;</a:t>
            </a:r>
          </a:p>
          <a:p>
            <a:pPr marL="0" indent="0">
              <a:buNone/>
            </a:pPr>
            <a:r>
              <a:rPr lang="pt-B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498096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4"/>
            <a:ext cx="7859216" cy="4278461"/>
          </a:xfrm>
        </p:spPr>
        <p:txBody>
          <a:bodyPr/>
          <a:lstStyle/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7776450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241987B2B087F43981A3B4C5C919020" ma:contentTypeVersion="7" ma:contentTypeDescription="Crie um novo documento." ma:contentTypeScope="" ma:versionID="2cd1ef52e6e18427e452ef186fd921ea">
  <xsd:schema xmlns:xsd="http://www.w3.org/2001/XMLSchema" xmlns:xs="http://www.w3.org/2001/XMLSchema" xmlns:p="http://schemas.microsoft.com/office/2006/metadata/properties" xmlns:ns2="07ed6dab-a341-4182-a8ea-463859b14a2f" targetNamespace="http://schemas.microsoft.com/office/2006/metadata/properties" ma:root="true" ma:fieldsID="4ebd81b847db5deac5f40764978db113" ns2:_="">
    <xsd:import namespace="07ed6dab-a341-4182-a8ea-463859b14a2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ed6dab-a341-4182-a8ea-463859b14a2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61B12AF-EB96-465C-A2DB-9A743711658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572DF38-9B3F-4102-B10E-4C0C2793764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4887182-7725-418D-BFED-6E66E202A83E}"/>
</file>

<file path=docProps/app.xml><?xml version="1.0" encoding="utf-8"?>
<Properties xmlns="http://schemas.openxmlformats.org/officeDocument/2006/extended-properties" xmlns:vt="http://schemas.openxmlformats.org/officeDocument/2006/docPropsVTypes">
  <TotalTime>2125</TotalTime>
  <Words>592</Words>
  <Application>Microsoft Office PowerPoint</Application>
  <PresentationFormat>Apresentação na tela (4:3)</PresentationFormat>
  <Paragraphs>174</Paragraphs>
  <Slides>29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29</vt:i4>
      </vt:variant>
    </vt:vector>
  </HeadingPairs>
  <TitlesOfParts>
    <vt:vector size="32" baseType="lpstr">
      <vt:lpstr>Arial</vt:lpstr>
      <vt:lpstr>Calibri</vt:lpstr>
      <vt:lpstr>Design padrão</vt:lpstr>
      <vt:lpstr>CSS - Introdução</vt:lpstr>
      <vt:lpstr>CSS</vt:lpstr>
      <vt:lpstr>CSS</vt:lpstr>
      <vt:lpstr>Tipos de CSS</vt:lpstr>
      <vt:lpstr>CSS INLINE</vt:lpstr>
      <vt:lpstr>CSS INCORPORADO</vt:lpstr>
      <vt:lpstr>CSS EXTERNO</vt:lpstr>
      <vt:lpstr>Sintaxe</vt:lpstr>
      <vt:lpstr>Sintaxe</vt:lpstr>
      <vt:lpstr>Exemplo:</vt:lpstr>
      <vt:lpstr>Exemplo:</vt:lpstr>
      <vt:lpstr>Seletores</vt:lpstr>
      <vt:lpstr>Seletores</vt:lpstr>
      <vt:lpstr>Seletores</vt:lpstr>
      <vt:lpstr>Alterando a cor de fundo</vt:lpstr>
      <vt:lpstr>Alterando textos por CSS</vt:lpstr>
      <vt:lpstr>Alterando textos por CSS</vt:lpstr>
      <vt:lpstr>Alterando textos por CSS</vt:lpstr>
      <vt:lpstr>Alterando textos por CSS</vt:lpstr>
      <vt:lpstr>Alterando textos por CSS</vt:lpstr>
      <vt:lpstr>Alterando textos por CSS</vt:lpstr>
      <vt:lpstr>Alterando textos por CSS</vt:lpstr>
      <vt:lpstr>Alterando textos por CSS</vt:lpstr>
      <vt:lpstr>Alterando textos por CSS</vt:lpstr>
      <vt:lpstr>Alterando textos por CSS</vt:lpstr>
      <vt:lpstr>Alterando textos por CSS</vt:lpstr>
      <vt:lpstr>Alterando textos por CSS</vt:lpstr>
      <vt:lpstr>Alterando textos por CSS</vt:lpstr>
      <vt:lpstr>Exercício</vt:lpstr>
    </vt:vector>
  </TitlesOfParts>
  <Company>Senac São Paulo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Vasconcelos</dc:creator>
  <cp:lastModifiedBy>DANIEL VASCONCELOS</cp:lastModifiedBy>
  <cp:revision>159</cp:revision>
  <dcterms:created xsi:type="dcterms:W3CDTF">2012-03-14T19:46:11Z</dcterms:created>
  <dcterms:modified xsi:type="dcterms:W3CDTF">2022-09-19T10:53:41Z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0x0101009241987B2B087F43981A3B4C5C919020</vt:lpwstr>
  </property>
</Properties>
</file>